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Public Sans Bold" charset="1" panose="00000000000000000000"/>
      <p:regular r:id="rId30"/>
    </p:embeddedFont>
    <p:embeddedFont>
      <p:font typeface="Playfair Display Bold" charset="1" panose="00000800000000000000"/>
      <p:regular r:id="rId31"/>
    </p:embeddedFont>
    <p:embeddedFont>
      <p:font typeface="Public Sans" charset="1" panose="00000000000000000000"/>
      <p:regular r:id="rId32"/>
    </p:embeddedFont>
    <p:embeddedFont>
      <p:font typeface="Playfair Display" charset="1" panose="00000500000000000000"/>
      <p:regular r:id="rId33"/>
    </p:embeddedFont>
    <p:embeddedFont>
      <p:font typeface="Public Sans Italics" charset="1" panose="00000000000000000000"/>
      <p:regular r:id="rId34"/>
    </p:embeddedFont>
    <p:embeddedFont>
      <p:font typeface="Playfair Display Italics" charset="1" panose="00000500000000000000"/>
      <p:regular r:id="rId35"/>
    </p:embeddedFont>
    <p:embeddedFont>
      <p:font typeface="Playfair Display Bold Italics" charset="1" panose="00000800000000000000"/>
      <p:regular r:id="rId36"/>
    </p:embeddedFont>
    <p:embeddedFont>
      <p:font typeface="Canva Sans Bold" charset="1" panose="020B0803030501040103"/>
      <p:regular r:id="rId37"/>
    </p:embeddedFont>
    <p:embeddedFont>
      <p:font typeface="Times New Roman MT Italics" charset="1" panose="02030502070405090303"/>
      <p:regular r:id="rId38"/>
    </p:embeddedFont>
    <p:embeddedFont>
      <p:font typeface="Canva Sans" charset="1" panose="020B0503030501040103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519717" y="8470446"/>
            <a:ext cx="2717765" cy="787854"/>
          </a:xfrm>
          <a:custGeom>
            <a:avLst/>
            <a:gdLst/>
            <a:ahLst/>
            <a:cxnLst/>
            <a:rect r="r" b="b" t="t" l="l"/>
            <a:pathLst>
              <a:path h="787854" w="2717765">
                <a:moveTo>
                  <a:pt x="0" y="0"/>
                </a:moveTo>
                <a:lnTo>
                  <a:pt x="2717765" y="0"/>
                </a:lnTo>
                <a:lnTo>
                  <a:pt x="2717765" y="787854"/>
                </a:lnTo>
                <a:lnTo>
                  <a:pt x="0" y="787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1773" r="0" b="-12318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82" y="4728792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ECONOMIC DESIGN 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0974" y="2841650"/>
            <a:ext cx="16408332" cy="157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1"/>
              </a:lnSpc>
            </a:pPr>
            <a:r>
              <a:rPr lang="en-US" sz="12759" spc="63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Human Agency Index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6" y="8393430"/>
            <a:ext cx="7862435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0"/>
              </a:lnSpc>
            </a:pPr>
            <a:r>
              <a:rPr lang="en-US" sz="2300" spc="1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Layo</a:t>
            </a:r>
            <a:r>
              <a:rPr lang="en-US" sz="2300" spc="1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 Kim</a:t>
            </a:r>
          </a:p>
          <a:p>
            <a:pPr algn="just">
              <a:lnSpc>
                <a:spcPts val="3450"/>
              </a:lnSpc>
            </a:pPr>
            <a:r>
              <a:rPr lang="en-US" sz="2300" spc="1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Tim</a:t>
            </a:r>
            <a:r>
              <a:rPr lang="en-US" sz="2300" spc="1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Sheppel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AGENDA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739922" y="2122290"/>
            <a:ext cx="14536021" cy="7076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Problem</a:t>
            </a:r>
          </a:p>
          <a:p>
            <a:pPr algn="l" marL="1036323" indent="-345441" lvl="2">
              <a:lnSpc>
                <a:spcPts val="4488"/>
              </a:lnSpc>
              <a:buFont typeface="Arial"/>
              <a:buChar char="⚬"/>
            </a:pPr>
            <a:r>
              <a:rPr lang="en-US" sz="24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① Job Security Threatened by AI Automation</a:t>
            </a:r>
          </a:p>
          <a:p>
            <a:pPr algn="l" marL="1036323" indent="-345441" lvl="2">
              <a:lnSpc>
                <a:spcPts val="4488"/>
              </a:lnSpc>
              <a:buFont typeface="Arial"/>
              <a:buChar char="⚬"/>
            </a:pPr>
            <a:r>
              <a:rPr lang="en-US" sz="24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② Companies began replacing human with AI.</a:t>
            </a:r>
          </a:p>
          <a:p>
            <a:pPr algn="l" marL="1036323" indent="-345441" lvl="2">
              <a:lnSpc>
                <a:spcPts val="4488"/>
              </a:lnSpc>
              <a:buFont typeface="Arial"/>
              <a:buChar char="⚬"/>
            </a:pPr>
            <a:r>
              <a:rPr lang="en-US" b="true" sz="24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③ </a:t>
            </a:r>
            <a:r>
              <a:rPr lang="en-US" sz="24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Work culture: Profit and efficiency prioritized over People</a:t>
            </a:r>
          </a:p>
          <a:p>
            <a:pPr algn="l" marL="1036323" indent="-345441" lvl="2">
              <a:lnSpc>
                <a:spcPts val="4488"/>
              </a:lnSpc>
              <a:buFont typeface="Arial"/>
              <a:buChar char="⚬"/>
            </a:pPr>
            <a:r>
              <a:rPr lang="en-US" sz="24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④ Labor Automation Trend: 20 years of curve shifts to AI</a:t>
            </a:r>
          </a:p>
          <a:p>
            <a:pPr algn="l" marL="1036323" indent="-345441" lvl="2">
              <a:lnSpc>
                <a:spcPts val="4488"/>
              </a:lnSpc>
              <a:buFont typeface="Arial"/>
              <a:buChar char="⚬"/>
            </a:pPr>
            <a:r>
              <a:rPr lang="en-US" sz="24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⑤ AI Adoption Gap: Trend-Driven AI Adoption Fails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Gui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ding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Questions  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Solution proposal: Human Agency Index</a:t>
            </a:r>
          </a:p>
          <a:p>
            <a:pPr algn="l" marL="1036323" indent="-345441" lvl="2">
              <a:lnSpc>
                <a:spcPts val="4488"/>
              </a:lnSpc>
              <a:buFont typeface="Arial"/>
              <a:buChar char="⚬"/>
            </a:pPr>
            <a:r>
              <a:rPr lang="en-US" sz="24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Concept</a:t>
            </a:r>
          </a:p>
          <a:p>
            <a:pPr algn="l" marL="1036323" indent="-345441" lvl="2">
              <a:lnSpc>
                <a:spcPts val="4488"/>
              </a:lnSpc>
              <a:buFont typeface="Arial"/>
              <a:buChar char="⚬"/>
            </a:pPr>
            <a:r>
              <a:rPr lang="en-US" sz="24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Survey Questions</a:t>
            </a:r>
          </a:p>
          <a:p>
            <a:pPr algn="l" marL="1036323" indent="-345441" lvl="2">
              <a:lnSpc>
                <a:spcPts val="4488"/>
              </a:lnSpc>
              <a:buFont typeface="Arial"/>
              <a:buChar char="⚬"/>
            </a:pPr>
            <a:r>
              <a:rPr lang="en-US" sz="24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Incentive Design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Why it matters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5656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89157" y="3638870"/>
            <a:ext cx="9509685" cy="295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b="true" sz="6050" spc="30">
                <a:solidFill>
                  <a:srgbClr val="EFEEE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Human Job Security </a:t>
            </a:r>
          </a:p>
          <a:p>
            <a:pPr algn="ctr">
              <a:lnSpc>
                <a:spcPts val="7865"/>
              </a:lnSpc>
            </a:pPr>
            <a:r>
              <a:rPr lang="en-US" sz="60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is </a:t>
            </a:r>
            <a:r>
              <a:rPr lang="en-US" b="true" sz="6050" spc="30">
                <a:solidFill>
                  <a:srgbClr val="EFEEE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threatened by </a:t>
            </a:r>
          </a:p>
          <a:p>
            <a:pPr algn="ctr">
              <a:lnSpc>
                <a:spcPts val="7865"/>
              </a:lnSpc>
            </a:pPr>
            <a:r>
              <a:rPr lang="en-US" b="true" sz="6050" spc="30">
                <a:solidFill>
                  <a:srgbClr val="EFEEE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AI Automation</a:t>
            </a:r>
            <a:r>
              <a:rPr lang="en-US" sz="60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right now.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62025"/>
            <a:ext cx="16230600" cy="44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b="true" sz="2514" spc="570">
                <a:solidFill>
                  <a:srgbClr val="EFEEE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PROBLEM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4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PROBLEM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16407" y="2312790"/>
            <a:ext cx="10687464" cy="1017271"/>
            <a:chOff x="0" y="0"/>
            <a:chExt cx="14249952" cy="135636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85725"/>
              <a:ext cx="14249952" cy="846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① Job Security Threatened by AI Automation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938108"/>
              <a:ext cx="14249952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609296" y="3491986"/>
            <a:ext cx="6080160" cy="4837216"/>
            <a:chOff x="0" y="0"/>
            <a:chExt cx="1849337" cy="14712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49337" cy="1471284"/>
            </a:xfrm>
            <a:custGeom>
              <a:avLst/>
              <a:gdLst/>
              <a:ahLst/>
              <a:cxnLst/>
              <a:rect r="r" b="b" t="t" l="l"/>
              <a:pathLst>
                <a:path h="1471284" w="1849337">
                  <a:moveTo>
                    <a:pt x="0" y="0"/>
                  </a:moveTo>
                  <a:lnTo>
                    <a:pt x="1849337" y="0"/>
                  </a:lnTo>
                  <a:lnTo>
                    <a:pt x="1849337" y="1471284"/>
                  </a:lnTo>
                  <a:lnTo>
                    <a:pt x="0" y="14712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849337" cy="1499859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029925" y="5628762"/>
            <a:ext cx="3238902" cy="62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6"/>
              </a:lnSpc>
            </a:pPr>
            <a:r>
              <a:rPr lang="en-US" sz="2600" i="true" spc="13">
                <a:solidFill>
                  <a:srgbClr val="2B2C3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of U.S. existing jobs threatened by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67923" y="6900730"/>
            <a:ext cx="4362908" cy="354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900" spc="14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Goldman Sachs report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67923" y="3853936"/>
            <a:ext cx="4662450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66.7%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98543" y="3491986"/>
            <a:ext cx="6080160" cy="4837216"/>
            <a:chOff x="0" y="0"/>
            <a:chExt cx="1849337" cy="14712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49337" cy="1471284"/>
            </a:xfrm>
            <a:custGeom>
              <a:avLst/>
              <a:gdLst/>
              <a:ahLst/>
              <a:cxnLst/>
              <a:rect r="r" b="b" t="t" l="l"/>
              <a:pathLst>
                <a:path h="1471284" w="1849337">
                  <a:moveTo>
                    <a:pt x="0" y="0"/>
                  </a:moveTo>
                  <a:lnTo>
                    <a:pt x="1849337" y="0"/>
                  </a:lnTo>
                  <a:lnTo>
                    <a:pt x="1849337" y="1471284"/>
                  </a:lnTo>
                  <a:lnTo>
                    <a:pt x="0" y="14712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849337" cy="1499859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527463" y="5628762"/>
            <a:ext cx="4222321" cy="62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6"/>
              </a:lnSpc>
            </a:pPr>
            <a:r>
              <a:rPr lang="en-US" sz="2600" i="true" spc="13">
                <a:solidFill>
                  <a:srgbClr val="2B2C3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of Low-income Countries jobs threatened by AI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51526" y="9296400"/>
            <a:ext cx="11885945" cy="405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7"/>
              </a:lnSpc>
            </a:pPr>
            <a:r>
              <a:rPr lang="en-US" sz="1700" i="true" spc="8">
                <a:solidFill>
                  <a:srgbClr val="2B2C3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Generative AI could raise global GDP by 7%, Goldman Sachs Report (Apr 5, 2023)</a:t>
            </a:r>
          </a:p>
          <a:p>
            <a:pPr algn="r">
              <a:lnSpc>
                <a:spcPts val="1547"/>
              </a:lnSpc>
            </a:pPr>
            <a:r>
              <a:rPr lang="en-US" sz="1700" i="true" spc="8">
                <a:solidFill>
                  <a:srgbClr val="2B2C3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AI Will Transform the Global Economy. Let’s Make Sure It Benefits Humanity, IMF Blog (Jan 14, 2024)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19173" y="6734042"/>
            <a:ext cx="3238902" cy="687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900" spc="14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International Monetary Fund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77843" y="3853936"/>
            <a:ext cx="4521562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40%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3722" y="4347775"/>
            <a:ext cx="4789807" cy="675680"/>
            <a:chOff x="0" y="0"/>
            <a:chExt cx="6386410" cy="900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01303" y="0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503843" y="0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1" y="0"/>
                  </a:lnTo>
                  <a:lnTo>
                    <a:pt x="781331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102127" y="0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904666" y="0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401715" y="0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204254" y="0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802539" y="0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605078" y="0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97186" y="6082072"/>
            <a:ext cx="4264498" cy="1432418"/>
            <a:chOff x="0" y="0"/>
            <a:chExt cx="5685998" cy="19098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86929" y="0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1" y="0"/>
                  </a:lnTo>
                  <a:lnTo>
                    <a:pt x="781331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85625" y="0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089468" y="0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687753" y="0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1" y="0"/>
                  </a:lnTo>
                  <a:lnTo>
                    <a:pt x="781331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87341" y="0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1" y="0"/>
                  </a:lnTo>
                  <a:lnTo>
                    <a:pt x="781331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789880" y="0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1" y="0"/>
                  </a:lnTo>
                  <a:lnTo>
                    <a:pt x="781331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388165" y="0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1" y="0"/>
                  </a:lnTo>
                  <a:lnTo>
                    <a:pt x="781331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701303" y="1008984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08984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503843" y="1008984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1" y="0"/>
                  </a:lnTo>
                  <a:lnTo>
                    <a:pt x="781331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102127" y="1008984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4904666" y="1008984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401715" y="1008984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204254" y="1008984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802539" y="1008984"/>
              <a:ext cx="781332" cy="900906"/>
            </a:xfrm>
            <a:custGeom>
              <a:avLst/>
              <a:gdLst/>
              <a:ahLst/>
              <a:cxnLst/>
              <a:rect r="r" b="b" t="t" l="l"/>
              <a:pathLst>
                <a:path h="900906" w="781332">
                  <a:moveTo>
                    <a:pt x="0" y="0"/>
                  </a:moveTo>
                  <a:lnTo>
                    <a:pt x="781332" y="0"/>
                  </a:lnTo>
                  <a:lnTo>
                    <a:pt x="781332" y="900906"/>
                  </a:lnTo>
                  <a:lnTo>
                    <a:pt x="0" y="90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06871" y="942975"/>
            <a:ext cx="16230600" cy="64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PROBLEM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55630" y="4385875"/>
            <a:ext cx="3479894" cy="53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2200" i="true" spc="11">
                <a:solidFill>
                  <a:srgbClr val="2B2C3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roles out of 9,000 in Customer Service replaced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942851" y="4353249"/>
            <a:ext cx="2981427" cy="53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4300" spc="21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Salesforce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378982" y="4025386"/>
            <a:ext cx="3251194" cy="108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819"/>
              </a:lnSpc>
            </a:pPr>
            <a:r>
              <a:rPr lang="en-US" b="true" sz="62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4,000 </a:t>
            </a:r>
            <a:r>
              <a:rPr lang="en-US" sz="62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16407" y="2312790"/>
            <a:ext cx="10687464" cy="1684021"/>
            <a:chOff x="0" y="0"/>
            <a:chExt cx="14249952" cy="2245361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85725"/>
              <a:ext cx="14249952" cy="1735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 spc="18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② Companies began replacing human with AI.</a:t>
              </a:r>
            </a:p>
            <a:p>
              <a:pPr algn="l">
                <a:lnSpc>
                  <a:spcPts val="5319"/>
                </a:lnSpc>
              </a:pP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1827108"/>
              <a:ext cx="14249952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976126" y="6550947"/>
            <a:ext cx="3238902" cy="53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2200" i="true" spc="11">
                <a:solidFill>
                  <a:srgbClr val="2B2C3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roles out of 30,000 jobs lost were Ops, HR, AWS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942851" y="6585747"/>
            <a:ext cx="2610903" cy="53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4300" spc="21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Amazon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378982" y="6190458"/>
            <a:ext cx="3251194" cy="108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819"/>
              </a:lnSpc>
            </a:pPr>
            <a:r>
              <a:rPr lang="en-US" b="true" sz="62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14,000 </a:t>
            </a:r>
            <a:r>
              <a:rPr lang="en-US" sz="62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351526" y="9296400"/>
            <a:ext cx="11885945" cy="21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7"/>
              </a:lnSpc>
            </a:pPr>
            <a:r>
              <a:rPr lang="en-US" sz="1700" i="true" spc="8">
                <a:solidFill>
                  <a:srgbClr val="2B2C3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AI continues to drive job cut in big tech as automation push intensifies in Q3 2025 (Nov 13, 2025)</a:t>
            </a:r>
          </a:p>
        </p:txBody>
      </p:sp>
      <p:sp>
        <p:nvSpPr>
          <p:cNvPr name="AutoShape 39" id="39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6407" y="2312790"/>
            <a:ext cx="15108506" cy="1684021"/>
            <a:chOff x="0" y="0"/>
            <a:chExt cx="20144675" cy="224536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85725"/>
              <a:ext cx="20144675" cy="1735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③ Work culture: Profit and efficiency prioritized over People</a:t>
              </a:r>
            </a:p>
            <a:p>
              <a:pPr algn="l">
                <a:lnSpc>
                  <a:spcPts val="5319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27108"/>
              <a:ext cx="20144675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4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63668" y="4288796"/>
            <a:ext cx="6026757" cy="317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9"/>
              </a:lnSpc>
            </a:pPr>
            <a:r>
              <a:rPr lang="en-US" sz="3899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Despite </a:t>
            </a:r>
            <a:r>
              <a:rPr lang="en-US" sz="3899" spc="19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resistance </a:t>
            </a:r>
          </a:p>
          <a:p>
            <a:pPr algn="l">
              <a:lnSpc>
                <a:spcPts val="5069"/>
              </a:lnSpc>
            </a:pPr>
            <a:r>
              <a:rPr lang="en-US" sz="3899" spc="19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from labor unions</a:t>
            </a:r>
            <a:r>
              <a:rPr lang="en-US" sz="3899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, </a:t>
            </a:r>
          </a:p>
          <a:p>
            <a:pPr algn="l">
              <a:lnSpc>
                <a:spcPts val="5069"/>
              </a:lnSpc>
            </a:pPr>
            <a:r>
              <a:rPr lang="en-US" sz="3899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largest firms </a:t>
            </a:r>
            <a:r>
              <a:rPr lang="en-US" sz="3899" spc="19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downsize</a:t>
            </a:r>
            <a:r>
              <a:rPr lang="en-US" sz="3899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when they miss their projected earnings. 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0335" y="3198477"/>
            <a:ext cx="8574900" cy="5742726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5351526" y="9296400"/>
            <a:ext cx="11885945" cy="21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7"/>
              </a:lnSpc>
            </a:pPr>
            <a:r>
              <a:rPr lang="en-US" sz="1700" i="true" spc="8">
                <a:solidFill>
                  <a:srgbClr val="2B2C3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Financialization and corporate downsizing as a shareholder value strategy, Oxford Academic (Jul 19, 2021)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4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PROBLEM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31172" y="2720077"/>
            <a:ext cx="9262908" cy="641387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9763668" y="4193864"/>
            <a:ext cx="6581207" cy="336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9"/>
              </a:lnSpc>
            </a:pPr>
            <a:r>
              <a:rPr lang="en-US" sz="3899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“There is renewed concern that advances in robotics and </a:t>
            </a:r>
            <a:r>
              <a:rPr lang="en-US" sz="3899" spc="19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artificial intelligence</a:t>
            </a:r>
            <a:r>
              <a:rPr lang="en-US" sz="3899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will lead to massive job losses.” </a:t>
            </a:r>
          </a:p>
          <a:p>
            <a:pPr algn="l">
              <a:lnSpc>
                <a:spcPts val="3250"/>
              </a:lnSpc>
            </a:pPr>
          </a:p>
          <a:p>
            <a:pPr algn="r">
              <a:lnSpc>
                <a:spcPts val="3250"/>
              </a:lnSpc>
            </a:pPr>
            <a:r>
              <a:rPr lang="en-US" sz="2500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—</a:t>
            </a:r>
            <a:r>
              <a:rPr lang="en-US" sz="2500" i="true" spc="12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Brynjolfsson &amp; McAfee, 2014; Ford, 2015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16407" y="2312790"/>
            <a:ext cx="16221064" cy="1017271"/>
            <a:chOff x="0" y="0"/>
            <a:chExt cx="21628085" cy="135636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85725"/>
              <a:ext cx="21628085" cy="846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④ Labor Automation Trend: 20 years of curve shifts to AI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938108"/>
              <a:ext cx="21628085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5351526" y="9296400"/>
            <a:ext cx="11885945" cy="21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7"/>
              </a:lnSpc>
            </a:pPr>
            <a:r>
              <a:rPr lang="en-US" sz="1700" i="true" spc="8">
                <a:solidFill>
                  <a:srgbClr val="2B2C3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Robots and Jobs: Evidence from US Labor Markets, The University of Chicago Press Journal (Jun, 2020)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868336" y="3647787"/>
            <a:ext cx="4270440" cy="4258960"/>
          </a:xfrm>
          <a:custGeom>
            <a:avLst/>
            <a:gdLst/>
            <a:ahLst/>
            <a:cxnLst/>
            <a:rect r="r" b="b" t="t" l="l"/>
            <a:pathLst>
              <a:path h="4258960" w="4270440">
                <a:moveTo>
                  <a:pt x="0" y="0"/>
                </a:moveTo>
                <a:lnTo>
                  <a:pt x="4270440" y="0"/>
                </a:lnTo>
                <a:lnTo>
                  <a:pt x="4270440" y="4258960"/>
                </a:lnTo>
                <a:lnTo>
                  <a:pt x="0" y="4258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93822" y="4300870"/>
            <a:ext cx="9082184" cy="302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4196" spc="20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More than half </a:t>
            </a:r>
            <a:r>
              <a:rPr lang="en-US" sz="4196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of companies </a:t>
            </a:r>
          </a:p>
          <a:p>
            <a:pPr algn="l">
              <a:lnSpc>
                <a:spcPts val="5455"/>
              </a:lnSpc>
            </a:pPr>
            <a:r>
              <a:rPr lang="en-US" sz="4196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that laid off employees for AI </a:t>
            </a:r>
          </a:p>
          <a:p>
            <a:pPr algn="l">
              <a:lnSpc>
                <a:spcPts val="5455"/>
              </a:lnSpc>
            </a:pPr>
            <a:r>
              <a:rPr lang="en-US" sz="4196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reported </a:t>
            </a:r>
            <a:r>
              <a:rPr lang="en-US" b="true" sz="4196" i="true" spc="20">
                <a:solidFill>
                  <a:srgbClr val="2B2C30"/>
                </a:solidFill>
                <a:latin typeface="Playfair Display Bold Italics"/>
                <a:ea typeface="Playfair Display Bold Italics"/>
                <a:cs typeface="Playfair Display Bold Italics"/>
                <a:sym typeface="Playfair Display Bold Italics"/>
              </a:rPr>
              <a:t>regretting </a:t>
            </a:r>
            <a:r>
              <a:rPr lang="en-US" sz="4196" spc="2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their decision.</a:t>
            </a:r>
          </a:p>
          <a:p>
            <a:pPr algn="r">
              <a:lnSpc>
                <a:spcPts val="3895"/>
              </a:lnSpc>
            </a:pPr>
          </a:p>
          <a:p>
            <a:pPr algn="r">
              <a:lnSpc>
                <a:spcPts val="3895"/>
              </a:lnSpc>
            </a:pPr>
            <a:r>
              <a:rPr lang="en-US" sz="299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—</a:t>
            </a:r>
            <a:r>
              <a:rPr lang="en-US" sz="2996" i="true" spc="14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Techrepublic.com</a:t>
            </a:r>
            <a:r>
              <a:rPr lang="en-US" sz="299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(May 19, 2025)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36483" y="5055827"/>
            <a:ext cx="2080802" cy="1473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1"/>
              </a:lnSpc>
            </a:pPr>
            <a:r>
              <a:rPr lang="en-US" b="true" sz="4243">
                <a:solidFill>
                  <a:srgbClr val="ECE8D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55%</a:t>
            </a:r>
          </a:p>
          <a:p>
            <a:pPr algn="ctr">
              <a:lnSpc>
                <a:spcPts val="5941"/>
              </a:lnSpc>
              <a:spcBef>
                <a:spcPct val="0"/>
              </a:spcBef>
            </a:pPr>
            <a:r>
              <a:rPr lang="en-US" b="true" sz="4243">
                <a:solidFill>
                  <a:srgbClr val="ECE8D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regret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51526" y="9296400"/>
            <a:ext cx="11885945" cy="21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7"/>
              </a:lnSpc>
            </a:pPr>
            <a:r>
              <a:rPr lang="en-US" sz="1700" i="true" spc="8">
                <a:solidFill>
                  <a:srgbClr val="2B2C3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‘We Acted Too Quickly’: Over Half of Companies Regret AI-Driven Layoffs, Report Finds, TechRepublic (May 19, 2025)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16407" y="2312790"/>
            <a:ext cx="16221064" cy="1017271"/>
            <a:chOff x="0" y="0"/>
            <a:chExt cx="21628085" cy="135636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85725"/>
              <a:ext cx="21628085" cy="846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⑤ AI Adoption Gap: Trend-Driven AI Adoption Fails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38108"/>
              <a:ext cx="21628085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5656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08304" y="3014323"/>
            <a:ext cx="15671393" cy="484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5"/>
              </a:lnSpc>
            </a:pP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can we </a:t>
            </a:r>
            <a:r>
              <a:rPr lang="en-US" b="true" sz="6150" spc="30">
                <a:solidFill>
                  <a:srgbClr val="EFEEE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re-humanize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</a:p>
          <a:p>
            <a:pPr algn="ctr">
              <a:lnSpc>
                <a:spcPts val="7995"/>
              </a:lnSpc>
            </a:pP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AI adoption process itself?</a:t>
            </a:r>
          </a:p>
          <a:p>
            <a:pPr algn="ctr">
              <a:lnSpc>
                <a:spcPts val="6565"/>
              </a:lnSpc>
            </a:pPr>
          </a:p>
          <a:p>
            <a:pPr algn="ctr">
              <a:lnSpc>
                <a:spcPts val="7995"/>
              </a:lnSpc>
            </a:pP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can we </a:t>
            </a:r>
            <a:r>
              <a:rPr lang="en-US" b="true" sz="6150" spc="30">
                <a:solidFill>
                  <a:srgbClr val="EFEEE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rebalance power </a:t>
            </a:r>
          </a:p>
          <a:p>
            <a:pPr algn="ctr">
              <a:lnSpc>
                <a:spcPts val="7995"/>
              </a:lnSpc>
            </a:pPr>
            <a:r>
              <a:rPr lang="en-US" b="true" sz="6150" spc="30">
                <a:solidFill>
                  <a:srgbClr val="EFEEE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between AI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and </a:t>
            </a:r>
            <a:r>
              <a:rPr lang="en-US" b="true" sz="6150" spc="30">
                <a:solidFill>
                  <a:srgbClr val="EFEEE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humans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62025"/>
            <a:ext cx="16230600" cy="44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b="true" sz="2514" spc="570">
                <a:solidFill>
                  <a:srgbClr val="EFEEE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GUIDING</a:t>
            </a:r>
            <a:r>
              <a:rPr lang="en-US" b="true" sz="2514" spc="570">
                <a:solidFill>
                  <a:srgbClr val="EFEEE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QUESTIONS 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4B3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878263"/>
            <a:ext cx="16242893" cy="249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 spc="17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Human Agency Redesign</a:t>
            </a:r>
          </a:p>
          <a:p>
            <a:pPr algn="ctr">
              <a:lnSpc>
                <a:spcPts val="15600"/>
              </a:lnSpc>
            </a:pPr>
            <a:r>
              <a:rPr lang="en-US" b="true" sz="12000" spc="60">
                <a:solidFill>
                  <a:srgbClr val="EFEEE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Human Agency Index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62025"/>
            <a:ext cx="16230600" cy="44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b="true" sz="2514" spc="570">
                <a:solidFill>
                  <a:srgbClr val="EFEEE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SOLUTION PROPOSAL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128439" y="2261941"/>
            <a:ext cx="7130861" cy="8339707"/>
            <a:chOff x="0" y="0"/>
            <a:chExt cx="2168918" cy="2536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68918" cy="2536600"/>
            </a:xfrm>
            <a:custGeom>
              <a:avLst/>
              <a:gdLst/>
              <a:ahLst/>
              <a:cxnLst/>
              <a:rect r="r" b="b" t="t" l="l"/>
              <a:pathLst>
                <a:path h="2536600" w="2168918">
                  <a:moveTo>
                    <a:pt x="0" y="0"/>
                  </a:moveTo>
                  <a:lnTo>
                    <a:pt x="2168918" y="0"/>
                  </a:lnTo>
                  <a:lnTo>
                    <a:pt x="2168918" y="2536600"/>
                  </a:lnTo>
                  <a:lnTo>
                    <a:pt x="0" y="2536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68918" cy="2565175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397669" y="3205888"/>
            <a:ext cx="5762955" cy="7395761"/>
          </a:xfrm>
          <a:custGeom>
            <a:avLst/>
            <a:gdLst/>
            <a:ahLst/>
            <a:cxnLst/>
            <a:rect r="r" b="b" t="t" l="l"/>
            <a:pathLst>
              <a:path h="7395761" w="5762955">
                <a:moveTo>
                  <a:pt x="0" y="0"/>
                </a:moveTo>
                <a:lnTo>
                  <a:pt x="5762955" y="0"/>
                </a:lnTo>
                <a:lnTo>
                  <a:pt x="5762955" y="7395761"/>
                </a:lnTo>
                <a:lnTo>
                  <a:pt x="0" y="7395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27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25362" y="2576590"/>
            <a:ext cx="5937016" cy="7710410"/>
          </a:xfrm>
          <a:custGeom>
            <a:avLst/>
            <a:gdLst/>
            <a:ahLst/>
            <a:cxnLst/>
            <a:rect r="r" b="b" t="t" l="l"/>
            <a:pathLst>
              <a:path h="7710410" w="5937016">
                <a:moveTo>
                  <a:pt x="0" y="0"/>
                </a:moveTo>
                <a:lnTo>
                  <a:pt x="5937015" y="0"/>
                </a:lnTo>
                <a:lnTo>
                  <a:pt x="5937015" y="7710410"/>
                </a:lnTo>
                <a:lnTo>
                  <a:pt x="0" y="771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38791" y="2291470"/>
            <a:ext cx="5891444" cy="7718713"/>
          </a:xfrm>
          <a:custGeom>
            <a:avLst/>
            <a:gdLst/>
            <a:ahLst/>
            <a:cxnLst/>
            <a:rect r="r" b="b" t="t" l="l"/>
            <a:pathLst>
              <a:path h="7718713" w="5891444">
                <a:moveTo>
                  <a:pt x="0" y="0"/>
                </a:moveTo>
                <a:lnTo>
                  <a:pt x="5891444" y="0"/>
                </a:lnTo>
                <a:lnTo>
                  <a:pt x="5891444" y="7718713"/>
                </a:lnTo>
                <a:lnTo>
                  <a:pt x="0" y="7718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4" t="0" r="-604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HUMAN AGENCY INDEX(HAI): CONCEPT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490865"/>
            <a:ext cx="8367045" cy="683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We designed the </a:t>
            </a: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Human Agency Index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(metrics organizations can use when deciding whether and how to adopt AI). Instead of relying solely on productivity gains or cost-reduction calculations, </a:t>
            </a: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companies must evaluate AI implementation through a new set of humane, human-impact performance indicators.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3150"/>
              </a:lnSpc>
            </a:pPr>
            <a:r>
              <a:rPr lang="en-US" sz="2100" i="true">
                <a:solidFill>
                  <a:srgbClr val="2B2C3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For a copy of this document, please email us at: </a:t>
            </a:r>
          </a:p>
          <a:p>
            <a:pPr algn="l">
              <a:lnSpc>
                <a:spcPts val="3150"/>
              </a:lnSpc>
            </a:pPr>
          </a:p>
          <a:p>
            <a:pPr algn="l">
              <a:lnSpc>
                <a:spcPts val="3150"/>
              </a:lnSpc>
            </a:pPr>
            <a:r>
              <a:rPr lang="en-US" sz="2100" i="true">
                <a:solidFill>
                  <a:srgbClr val="2B2C3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shept306@newschool.edu</a:t>
            </a:r>
          </a:p>
          <a:p>
            <a:pPr algn="l">
              <a:lnSpc>
                <a:spcPts val="3150"/>
              </a:lnSpc>
            </a:pPr>
            <a:r>
              <a:rPr lang="en-US" sz="2100" i="true">
                <a:solidFill>
                  <a:srgbClr val="2B2C3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kiml948@newschool.edu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4160887" y="2891492"/>
            <a:ext cx="3098413" cy="5923826"/>
            <a:chOff x="0" y="0"/>
            <a:chExt cx="942411" cy="18017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2411" cy="1801787"/>
            </a:xfrm>
            <a:custGeom>
              <a:avLst/>
              <a:gdLst/>
              <a:ahLst/>
              <a:cxnLst/>
              <a:rect r="r" b="b" t="t" l="l"/>
              <a:pathLst>
                <a:path h="1801787" w="942411">
                  <a:moveTo>
                    <a:pt x="0" y="0"/>
                  </a:moveTo>
                  <a:lnTo>
                    <a:pt x="942411" y="0"/>
                  </a:lnTo>
                  <a:lnTo>
                    <a:pt x="942411" y="1801787"/>
                  </a:lnTo>
                  <a:lnTo>
                    <a:pt x="0" y="1801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942411" cy="1830362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879991" y="2891492"/>
            <a:ext cx="3098413" cy="5923826"/>
            <a:chOff x="0" y="0"/>
            <a:chExt cx="942411" cy="18017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2411" cy="1801787"/>
            </a:xfrm>
            <a:custGeom>
              <a:avLst/>
              <a:gdLst/>
              <a:ahLst/>
              <a:cxnLst/>
              <a:rect r="r" b="b" t="t" l="l"/>
              <a:pathLst>
                <a:path h="1801787" w="942411">
                  <a:moveTo>
                    <a:pt x="0" y="0"/>
                  </a:moveTo>
                  <a:lnTo>
                    <a:pt x="942411" y="0"/>
                  </a:lnTo>
                  <a:lnTo>
                    <a:pt x="942411" y="1801787"/>
                  </a:lnTo>
                  <a:lnTo>
                    <a:pt x="0" y="1801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942411" cy="1830362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99095" y="2891492"/>
            <a:ext cx="3098413" cy="5923826"/>
            <a:chOff x="0" y="0"/>
            <a:chExt cx="942411" cy="18017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2411" cy="1801787"/>
            </a:xfrm>
            <a:custGeom>
              <a:avLst/>
              <a:gdLst/>
              <a:ahLst/>
              <a:cxnLst/>
              <a:rect r="r" b="b" t="t" l="l"/>
              <a:pathLst>
                <a:path h="1801787" w="942411">
                  <a:moveTo>
                    <a:pt x="0" y="0"/>
                  </a:moveTo>
                  <a:lnTo>
                    <a:pt x="942411" y="0"/>
                  </a:lnTo>
                  <a:lnTo>
                    <a:pt x="942411" y="1801787"/>
                  </a:lnTo>
                  <a:lnTo>
                    <a:pt x="0" y="1801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942411" cy="1830362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313897" y="2891492"/>
            <a:ext cx="3098413" cy="5923826"/>
            <a:chOff x="0" y="0"/>
            <a:chExt cx="942411" cy="18017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2411" cy="1801787"/>
            </a:xfrm>
            <a:custGeom>
              <a:avLst/>
              <a:gdLst/>
              <a:ahLst/>
              <a:cxnLst/>
              <a:rect r="r" b="b" t="t" l="l"/>
              <a:pathLst>
                <a:path h="1801787" w="942411">
                  <a:moveTo>
                    <a:pt x="0" y="0"/>
                  </a:moveTo>
                  <a:lnTo>
                    <a:pt x="942411" y="0"/>
                  </a:lnTo>
                  <a:lnTo>
                    <a:pt x="942411" y="1801787"/>
                  </a:lnTo>
                  <a:lnTo>
                    <a:pt x="0" y="1801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942411" cy="1830362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2891492"/>
            <a:ext cx="3098413" cy="5923826"/>
            <a:chOff x="0" y="0"/>
            <a:chExt cx="942411" cy="18017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2411" cy="1801787"/>
            </a:xfrm>
            <a:custGeom>
              <a:avLst/>
              <a:gdLst/>
              <a:ahLst/>
              <a:cxnLst/>
              <a:rect r="r" b="b" t="t" l="l"/>
              <a:pathLst>
                <a:path h="1801787" w="942411">
                  <a:moveTo>
                    <a:pt x="0" y="0"/>
                  </a:moveTo>
                  <a:lnTo>
                    <a:pt x="942411" y="0"/>
                  </a:lnTo>
                  <a:lnTo>
                    <a:pt x="942411" y="1801787"/>
                  </a:lnTo>
                  <a:lnTo>
                    <a:pt x="0" y="1801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942411" cy="1830362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49198" y="2335109"/>
            <a:ext cx="1112766" cy="111276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EE7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HAI: SURVEY CATEGORIES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1988" y="5872455"/>
            <a:ext cx="2294684" cy="39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2800" i="true" spc="14">
                <a:solidFill>
                  <a:srgbClr val="2B2C3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4 items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38943" y="5866224"/>
            <a:ext cx="2168140" cy="39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2800" i="true" spc="14">
                <a:solidFill>
                  <a:srgbClr val="2B2C3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4 items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38492" y="5872455"/>
            <a:ext cx="2544574" cy="39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2800" i="true" spc="14">
                <a:solidFill>
                  <a:srgbClr val="2B2C3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4 items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4489" y="2824817"/>
            <a:ext cx="2302183" cy="205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Decision Autonomy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728545" y="2824817"/>
            <a:ext cx="2175225" cy="205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Task </a:t>
            </a: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Control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30177" y="2824817"/>
            <a:ext cx="2552890" cy="205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Interpretive Authority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62920" y="5866224"/>
            <a:ext cx="2335509" cy="39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2800" i="true" spc="14">
                <a:solidFill>
                  <a:srgbClr val="2B2C3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3 items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254997" y="2824817"/>
            <a:ext cx="2343142" cy="205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Voice and Appeal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2022" y="6469932"/>
            <a:ext cx="2302183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Degree to which 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workers retain final decision authority.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638943" y="6469932"/>
            <a:ext cx="2174133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ntrol over how 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work is executed.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921692" y="6469932"/>
            <a:ext cx="2551608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Ability to interpret, override, or 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contextualize AI outputs.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59554" y="6469932"/>
            <a:ext cx="2338876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Mechanisms for participating in AI 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design and appealing 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AI decisions.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497310" y="5872455"/>
            <a:ext cx="2480642" cy="39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2800" i="true" spc="14">
                <a:solidFill>
                  <a:srgbClr val="2B2C3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3 items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492754" y="2824817"/>
            <a:ext cx="2502876" cy="2564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Skill Development Opportunity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497310" y="6469932"/>
            <a:ext cx="249832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Availability of learning 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and growth pathways in AI-mediated work environments.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49198" y="2525097"/>
            <a:ext cx="1112766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  <a:spcBef>
                <a:spcPct val="0"/>
              </a:spcBef>
            </a:pPr>
            <a:r>
              <a:rPr lang="en-US" b="true" sz="3200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251263" y="2335109"/>
            <a:ext cx="1112766" cy="1112766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EE7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5251263" y="2525097"/>
            <a:ext cx="1112766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  <a:spcBef>
                <a:spcPct val="0"/>
              </a:spcBef>
            </a:pPr>
            <a:r>
              <a:rPr lang="en-US" b="true" sz="3200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565788" y="2335109"/>
            <a:ext cx="1112766" cy="1112766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EE7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8565788" y="2525097"/>
            <a:ext cx="1112766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  <a:spcBef>
                <a:spcPct val="0"/>
              </a:spcBef>
            </a:pPr>
            <a:r>
              <a:rPr lang="en-US" b="true" sz="3200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1850032" y="2335109"/>
            <a:ext cx="1112766" cy="1112766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EE7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850032" y="2525097"/>
            <a:ext cx="1112766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  <a:spcBef>
                <a:spcPct val="0"/>
              </a:spcBef>
            </a:pPr>
            <a:r>
              <a:rPr lang="en-US" b="true" sz="3200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5190087" y="2335109"/>
            <a:ext cx="1112766" cy="1112766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EE7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5190087" y="2525097"/>
            <a:ext cx="1112766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  <a:spcBef>
                <a:spcPct val="0"/>
              </a:spcBef>
            </a:pPr>
            <a:r>
              <a:rPr lang="en-US" b="true" sz="3200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HAI: SURVEY QUESTIONS</a:t>
            </a:r>
          </a:p>
        </p:txBody>
      </p:sp>
      <p:sp>
        <p:nvSpPr>
          <p:cNvPr name="AutoShape 3" id="3"/>
          <p:cNvSpPr/>
          <p:nvPr/>
        </p:nvSpPr>
        <p:spPr>
          <a:xfrm>
            <a:off x="-7086597" y="1799270"/>
            <a:ext cx="16919710" cy="0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274450" y="2414134"/>
            <a:ext cx="12791977" cy="8211949"/>
            <a:chOff x="0" y="0"/>
            <a:chExt cx="3890799" cy="2497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90799" cy="2497741"/>
            </a:xfrm>
            <a:custGeom>
              <a:avLst/>
              <a:gdLst/>
              <a:ahLst/>
              <a:cxnLst/>
              <a:rect r="r" b="b" t="t" l="l"/>
              <a:pathLst>
                <a:path h="2497741" w="3890799">
                  <a:moveTo>
                    <a:pt x="0" y="0"/>
                  </a:moveTo>
                  <a:lnTo>
                    <a:pt x="3890799" y="0"/>
                  </a:lnTo>
                  <a:lnTo>
                    <a:pt x="3890799" y="2497741"/>
                  </a:lnTo>
                  <a:lnTo>
                    <a:pt x="0" y="24977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890799" cy="2526316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851126" y="6889631"/>
            <a:ext cx="11662844" cy="8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#3.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My manager supports my independent decisions when they differ from the AI.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51126" y="3017745"/>
            <a:ext cx="11662844" cy="135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#1.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I have the final authority to approve or reject decisions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suggested by the AI in my job.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6871" y="2404609"/>
            <a:ext cx="2998795" cy="298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Category 1: 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Decision Autonomy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(4 items)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Degree to which workers retain final decision authority.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26906" y="4956058"/>
            <a:ext cx="11662844" cy="135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#2.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Even when the AI suggests an action, I can choose a different action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without penalty.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26906" y="8337430"/>
            <a:ext cx="11641015" cy="8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#4.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I decide which tasks are assigned to me, rather than the AI system.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HAI: SURVEY QUESTIONS</a:t>
            </a:r>
          </a:p>
        </p:txBody>
      </p:sp>
      <p:sp>
        <p:nvSpPr>
          <p:cNvPr name="AutoShape 3" id="3"/>
          <p:cNvSpPr/>
          <p:nvPr/>
        </p:nvSpPr>
        <p:spPr>
          <a:xfrm>
            <a:off x="-7086597" y="1799270"/>
            <a:ext cx="16919710" cy="0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274450" y="2414134"/>
            <a:ext cx="12791977" cy="8211949"/>
            <a:chOff x="0" y="0"/>
            <a:chExt cx="3890799" cy="2497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90799" cy="2497741"/>
            </a:xfrm>
            <a:custGeom>
              <a:avLst/>
              <a:gdLst/>
              <a:ahLst/>
              <a:cxnLst/>
              <a:rect r="r" b="b" t="t" l="l"/>
              <a:pathLst>
                <a:path h="2497741" w="3890799">
                  <a:moveTo>
                    <a:pt x="0" y="0"/>
                  </a:moveTo>
                  <a:lnTo>
                    <a:pt x="3890799" y="0"/>
                  </a:lnTo>
                  <a:lnTo>
                    <a:pt x="3890799" y="2497741"/>
                  </a:lnTo>
                  <a:lnTo>
                    <a:pt x="0" y="24977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890799" cy="2526316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841408" y="2990582"/>
            <a:ext cx="11662844" cy="8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#5.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I control the order and timing of how I complete my core tasks.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6871" y="2404609"/>
            <a:ext cx="2998795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Category 2: 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Task Control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(4 items)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Cont</a:t>
            </a:r>
            <a:r>
              <a:rPr lang="en-US" sz="20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rol over 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how work is executed.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41408" y="6597192"/>
            <a:ext cx="11662844" cy="8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#7.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 can pause or stop automated processes to change the workflow.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41408" y="4549318"/>
            <a:ext cx="11662844" cy="135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#6.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I ca</a:t>
            </a: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n change how a task is completed if I think a different approach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works better.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41408" y="8159291"/>
            <a:ext cx="11662844" cy="8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#8.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I can decide when to involve the AI vs. when to act manually.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HAI: SURVEY QUESTIONS</a:t>
            </a:r>
          </a:p>
        </p:txBody>
      </p:sp>
      <p:sp>
        <p:nvSpPr>
          <p:cNvPr name="AutoShape 3" id="3"/>
          <p:cNvSpPr/>
          <p:nvPr/>
        </p:nvSpPr>
        <p:spPr>
          <a:xfrm>
            <a:off x="-7086597" y="1799270"/>
            <a:ext cx="16919710" cy="0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274450" y="2414134"/>
            <a:ext cx="12791977" cy="8211949"/>
            <a:chOff x="0" y="0"/>
            <a:chExt cx="3890799" cy="2497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90799" cy="2497741"/>
            </a:xfrm>
            <a:custGeom>
              <a:avLst/>
              <a:gdLst/>
              <a:ahLst/>
              <a:cxnLst/>
              <a:rect r="r" b="b" t="t" l="l"/>
              <a:pathLst>
                <a:path h="2497741" w="3890799">
                  <a:moveTo>
                    <a:pt x="0" y="0"/>
                  </a:moveTo>
                  <a:lnTo>
                    <a:pt x="3890799" y="0"/>
                  </a:lnTo>
                  <a:lnTo>
                    <a:pt x="3890799" y="2497741"/>
                  </a:lnTo>
                  <a:lnTo>
                    <a:pt x="0" y="24977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890799" cy="2526316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6871" y="2404609"/>
            <a:ext cx="2998795" cy="328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Category 3: 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Interpretive Authority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(4 items)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Ability to interp</a:t>
            </a:r>
            <a:r>
              <a:rPr lang="en-US" sz="20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ret, override, or contextualize AI outputs.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39016" y="6265514"/>
            <a:ext cx="11662844" cy="135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#11.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 can refuse to follow an AI recommendation when I see a problem.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841408" y="2966148"/>
            <a:ext cx="11662844" cy="135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#9.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I can view how the AI reached a recommendation (explainability).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839016" y="4695556"/>
            <a:ext cx="11662844" cy="135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#10.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I am</a:t>
            </a: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 trained to interpret AI outputs and understand their limitations.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841408" y="7837138"/>
            <a:ext cx="11662844" cy="135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#12.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I can annotate AI outputs to improve future behavior.</a:t>
            </a:r>
          </a:p>
          <a:p>
            <a:pPr algn="l">
              <a:lnSpc>
                <a:spcPts val="384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HAI: SURVEY QUESTIONS</a:t>
            </a:r>
          </a:p>
        </p:txBody>
      </p:sp>
      <p:sp>
        <p:nvSpPr>
          <p:cNvPr name="AutoShape 3" id="3"/>
          <p:cNvSpPr/>
          <p:nvPr/>
        </p:nvSpPr>
        <p:spPr>
          <a:xfrm>
            <a:off x="-7086597" y="1799270"/>
            <a:ext cx="16919710" cy="0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274450" y="2414134"/>
            <a:ext cx="12791977" cy="8211949"/>
            <a:chOff x="0" y="0"/>
            <a:chExt cx="3890799" cy="2497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90799" cy="2497741"/>
            </a:xfrm>
            <a:custGeom>
              <a:avLst/>
              <a:gdLst/>
              <a:ahLst/>
              <a:cxnLst/>
              <a:rect r="r" b="b" t="t" l="l"/>
              <a:pathLst>
                <a:path h="2497741" w="3890799">
                  <a:moveTo>
                    <a:pt x="0" y="0"/>
                  </a:moveTo>
                  <a:lnTo>
                    <a:pt x="3890799" y="0"/>
                  </a:lnTo>
                  <a:lnTo>
                    <a:pt x="3890799" y="2497741"/>
                  </a:lnTo>
                  <a:lnTo>
                    <a:pt x="0" y="24977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890799" cy="2526316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6871" y="2404609"/>
            <a:ext cx="2998795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Category 4: 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Voice &amp; Appeal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(3 items)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Mechanisms for partici</a:t>
            </a:r>
            <a:r>
              <a:rPr lang="en-US" sz="20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pating in AI design and appealing 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AI decisions.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40212" y="6443909"/>
            <a:ext cx="11662844" cy="135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#15.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eedback I submit about the AI leads to visible change.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840212" y="3133272"/>
            <a:ext cx="11662844" cy="135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#13.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There is a</a:t>
            </a: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 clear and effective process to appeal AI-driven decisions.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839016" y="4678566"/>
            <a:ext cx="11662844" cy="135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#14.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Workers were</a:t>
            </a: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 consulted in the AI system’s design or deployment.</a:t>
            </a:r>
          </a:p>
          <a:p>
            <a:pPr algn="l">
              <a:lnSpc>
                <a:spcPts val="384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HAI: SURVEY QUESTIONS</a:t>
            </a:r>
          </a:p>
        </p:txBody>
      </p:sp>
      <p:sp>
        <p:nvSpPr>
          <p:cNvPr name="AutoShape 3" id="3"/>
          <p:cNvSpPr/>
          <p:nvPr/>
        </p:nvSpPr>
        <p:spPr>
          <a:xfrm>
            <a:off x="-7086597" y="1799270"/>
            <a:ext cx="16919710" cy="0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274450" y="2414134"/>
            <a:ext cx="12791977" cy="8211949"/>
            <a:chOff x="0" y="0"/>
            <a:chExt cx="3890799" cy="2497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90799" cy="2497741"/>
            </a:xfrm>
            <a:custGeom>
              <a:avLst/>
              <a:gdLst/>
              <a:ahLst/>
              <a:cxnLst/>
              <a:rect r="r" b="b" t="t" l="l"/>
              <a:pathLst>
                <a:path h="2497741" w="3890799">
                  <a:moveTo>
                    <a:pt x="0" y="0"/>
                  </a:moveTo>
                  <a:lnTo>
                    <a:pt x="3890799" y="0"/>
                  </a:lnTo>
                  <a:lnTo>
                    <a:pt x="3890799" y="2497741"/>
                  </a:lnTo>
                  <a:lnTo>
                    <a:pt x="0" y="24977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890799" cy="2526316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97346" y="2404609"/>
            <a:ext cx="2998795" cy="369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Category 5: 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Skill Development Opportunity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(3 items)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Availability of learning and growth </a:t>
            </a:r>
            <a:r>
              <a:rPr lang="en-US" sz="20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pathways 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in AI-mediated work environments.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40511" y="5955506"/>
            <a:ext cx="11661648" cy="135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#18.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I has reduced my routine work, letting me do more complex tasks.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840511" y="3002758"/>
            <a:ext cx="11661648" cy="135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#16.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The o</a:t>
            </a: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rganization provides training to work with the AI.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839614" y="4479132"/>
            <a:ext cx="11661648" cy="135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#17. 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My role now includes opportunities to learn new, valuable skills.</a:t>
            </a:r>
          </a:p>
          <a:p>
            <a:pPr algn="l">
              <a:lnSpc>
                <a:spcPts val="384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5656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08304" y="3432695"/>
            <a:ext cx="15671393" cy="40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5"/>
              </a:lnSpc>
            </a:pP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do we c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rea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 </a:t>
            </a:r>
            <a:r>
              <a:rPr lang="en-US" b="true" sz="6150" spc="30">
                <a:solidFill>
                  <a:srgbClr val="EFEEE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incentives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</a:p>
          <a:p>
            <a:pPr algn="ctr">
              <a:lnSpc>
                <a:spcPts val="7995"/>
              </a:lnSpc>
            </a:pP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 that </a:t>
            </a:r>
            <a:r>
              <a:rPr lang="en-US" b="true" sz="6150" spc="30">
                <a:solidFill>
                  <a:srgbClr val="EFEEE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companies want or need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</a:p>
          <a:p>
            <a:pPr algn="ctr">
              <a:lnSpc>
                <a:spcPts val="7995"/>
              </a:lnSpc>
            </a:pP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 us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these H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uman</a:t>
            </a:r>
            <a:r>
              <a:rPr lang="en-US" sz="61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Agency Index?</a:t>
            </a:r>
          </a:p>
          <a:p>
            <a:pPr algn="ctr">
              <a:lnSpc>
                <a:spcPts val="799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62025"/>
            <a:ext cx="16230600" cy="44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b="true" sz="2514" spc="570">
                <a:solidFill>
                  <a:srgbClr val="EFEEE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GUIDING</a:t>
            </a:r>
            <a:r>
              <a:rPr lang="en-US" b="true" sz="2514" spc="570">
                <a:solidFill>
                  <a:srgbClr val="EFEEE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QUESTIONS 2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485484"/>
            <a:ext cx="4977159" cy="3316032"/>
          </a:xfrm>
          <a:custGeom>
            <a:avLst/>
            <a:gdLst/>
            <a:ahLst/>
            <a:cxnLst/>
            <a:rect r="r" b="b" t="t" l="l"/>
            <a:pathLst>
              <a:path h="3316032" w="4977159">
                <a:moveTo>
                  <a:pt x="0" y="0"/>
                </a:moveTo>
                <a:lnTo>
                  <a:pt x="4977159" y="0"/>
                </a:lnTo>
                <a:lnTo>
                  <a:pt x="4977159" y="3316032"/>
                </a:lnTo>
                <a:lnTo>
                  <a:pt x="0" y="3316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HAI: INCENTIVE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99782" y="2774808"/>
            <a:ext cx="9969975" cy="678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Boosting the Human Agency Index functions as an HSG (Human Social Governance) indicator, much like how the </a:t>
            </a: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ESG </a:t>
            </a: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Index (Environmental Social Governance) transformed corporate accountability.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1) Consumer Trust Pre</a:t>
            </a:r>
            <a:r>
              <a:rPr lang="en-US" sz="23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mium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 strong Human Agency Score can generate a trust premium from both consumers and investors.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For example, organizational decision-making thresholds could be defined as follows: A company scoring 92% on the Human Agency Index would signal a “warranted trust premium.”</a:t>
            </a:r>
          </a:p>
          <a:p>
            <a:pPr algn="l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≥ 75: Acceptable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50–74: Requires mitigation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&lt; 50: Unacceptable or high-risk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2) Investor Attraction 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Companies with low-risk, human-centered AI practices are more likely to attract investors, helping strengthen corporate resilience and long-term value creation.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98082" y="3130065"/>
            <a:ext cx="3638395" cy="4026870"/>
            <a:chOff x="0" y="0"/>
            <a:chExt cx="1673518" cy="18522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3518" cy="1852202"/>
            </a:xfrm>
            <a:custGeom>
              <a:avLst/>
              <a:gdLst/>
              <a:ahLst/>
              <a:cxnLst/>
              <a:rect r="r" b="b" t="t" l="l"/>
              <a:pathLst>
                <a:path h="1852202" w="1673518">
                  <a:moveTo>
                    <a:pt x="0" y="0"/>
                  </a:moveTo>
                  <a:lnTo>
                    <a:pt x="1673518" y="0"/>
                  </a:lnTo>
                  <a:lnTo>
                    <a:pt x="1673518" y="1852202"/>
                  </a:lnTo>
                  <a:lnTo>
                    <a:pt x="0" y="18522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673518" cy="1880777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16407" y="2258553"/>
            <a:ext cx="4989451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 Market Incentives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81532" y="3523589"/>
            <a:ext cx="4859203" cy="3239821"/>
          </a:xfrm>
          <a:custGeom>
            <a:avLst/>
            <a:gdLst/>
            <a:ahLst/>
            <a:cxnLst/>
            <a:rect r="r" b="b" t="t" l="l"/>
            <a:pathLst>
              <a:path h="3239821" w="4859203">
                <a:moveTo>
                  <a:pt x="0" y="0"/>
                </a:moveTo>
                <a:lnTo>
                  <a:pt x="4859202" y="0"/>
                </a:lnTo>
                <a:lnTo>
                  <a:pt x="4859202" y="3239822"/>
                </a:lnTo>
                <a:lnTo>
                  <a:pt x="0" y="3239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30" t="0" r="-723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8082" y="3130065"/>
            <a:ext cx="3638395" cy="4026870"/>
            <a:chOff x="0" y="0"/>
            <a:chExt cx="1673518" cy="18522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3518" cy="1852202"/>
            </a:xfrm>
            <a:custGeom>
              <a:avLst/>
              <a:gdLst/>
              <a:ahLst/>
              <a:cxnLst/>
              <a:rect r="r" b="b" t="t" l="l"/>
              <a:pathLst>
                <a:path h="1852202" w="1673518">
                  <a:moveTo>
                    <a:pt x="0" y="0"/>
                  </a:moveTo>
                  <a:lnTo>
                    <a:pt x="1673518" y="0"/>
                  </a:lnTo>
                  <a:lnTo>
                    <a:pt x="1673518" y="1852202"/>
                  </a:lnTo>
                  <a:lnTo>
                    <a:pt x="0" y="18522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73518" cy="1880777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HAI: INCENTIVE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24392" y="3627120"/>
            <a:ext cx="9969975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By integrating the Human Agency Index into their operations, companies can reduce the Cost of</a:t>
            </a: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</a:t>
            </a: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 Failure and lower overall management risk.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Organizati</a:t>
            </a: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ons </a:t>
            </a: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tha</a:t>
            </a: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 </a:t>
            </a: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adopt</a:t>
            </a: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the Human Agency Index can significantly decrease the likelihood of:</a:t>
            </a:r>
          </a:p>
          <a:p>
            <a:pPr algn="l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AI-related liability stemming from economic damage or negligence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Worker resistance or strik</a:t>
            </a: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es tri</a:t>
            </a: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gg</a:t>
            </a: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ered by poorly implemented automation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Reputational harm and loss of public trust caused by misaligned AI decisions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6407" y="2258553"/>
            <a:ext cx="4989451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 Financial Incentives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20928" y="2979320"/>
            <a:ext cx="13646145" cy="374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5"/>
              </a:lnSpc>
            </a:pPr>
            <a:r>
              <a:rPr lang="en-US" sz="5750" spc="2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By embedding </a:t>
            </a:r>
            <a:r>
              <a:rPr lang="en-US" b="true" sz="5750" spc="28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Human Agency Index</a:t>
            </a:r>
            <a:r>
              <a:rPr lang="en-US" sz="5750" spc="2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into organizat</a:t>
            </a:r>
            <a:r>
              <a:rPr lang="en-US" sz="5750" spc="2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io</a:t>
            </a:r>
            <a:r>
              <a:rPr lang="en-US" sz="5750" spc="2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nal</a:t>
            </a:r>
            <a:r>
              <a:rPr lang="en-US" sz="5750" spc="2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wor</a:t>
            </a:r>
            <a:r>
              <a:rPr lang="en-US" sz="5750" spc="2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kflows,</a:t>
            </a:r>
            <a:r>
              <a:rPr lang="en-US" sz="5750" spc="2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</a:p>
          <a:p>
            <a:pPr algn="ctr">
              <a:lnSpc>
                <a:spcPts val="7475"/>
              </a:lnSpc>
            </a:pPr>
            <a:r>
              <a:rPr lang="en-US" sz="5750" spc="2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AI adopt</a:t>
            </a:r>
            <a:r>
              <a:rPr lang="en-US" sz="5750" spc="2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ion can </a:t>
            </a:r>
            <a:r>
              <a:rPr lang="en-US" b="true" sz="5750" spc="28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no longer be justified purely on efficiency or profit</a:t>
            </a:r>
            <a:r>
              <a:rPr lang="en-US" sz="5750" spc="2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WHY IT MATTERS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53494" y="3154675"/>
            <a:ext cx="7424090" cy="2013435"/>
            <a:chOff x="0" y="0"/>
            <a:chExt cx="3414788" cy="9261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14788" cy="926101"/>
            </a:xfrm>
            <a:custGeom>
              <a:avLst/>
              <a:gdLst/>
              <a:ahLst/>
              <a:cxnLst/>
              <a:rect r="r" b="b" t="t" l="l"/>
              <a:pathLst>
                <a:path h="926101" w="3414788">
                  <a:moveTo>
                    <a:pt x="0" y="0"/>
                  </a:moveTo>
                  <a:lnTo>
                    <a:pt x="3414788" y="0"/>
                  </a:lnTo>
                  <a:lnTo>
                    <a:pt x="3414788" y="926101"/>
                  </a:lnTo>
                  <a:lnTo>
                    <a:pt x="0" y="9261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414788" cy="954676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631708" y="3462893"/>
            <a:ext cx="503387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b="true" sz="31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Targets the root cause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75323" y="5481018"/>
            <a:ext cx="7424090" cy="2013435"/>
            <a:chOff x="0" y="0"/>
            <a:chExt cx="3414788" cy="9261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14788" cy="926101"/>
            </a:xfrm>
            <a:custGeom>
              <a:avLst/>
              <a:gdLst/>
              <a:ahLst/>
              <a:cxnLst/>
              <a:rect r="r" b="b" t="t" l="l"/>
              <a:pathLst>
                <a:path h="926101" w="3414788">
                  <a:moveTo>
                    <a:pt x="0" y="0"/>
                  </a:moveTo>
                  <a:lnTo>
                    <a:pt x="3414788" y="0"/>
                  </a:lnTo>
                  <a:lnTo>
                    <a:pt x="3414788" y="926101"/>
                  </a:lnTo>
                  <a:lnTo>
                    <a:pt x="0" y="9261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414788" cy="954676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770429" y="5746373"/>
            <a:ext cx="503387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b="true" sz="31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System-level intervention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10417" y="3158485"/>
            <a:ext cx="7424090" cy="2013435"/>
            <a:chOff x="0" y="0"/>
            <a:chExt cx="3414788" cy="9261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14788" cy="926101"/>
            </a:xfrm>
            <a:custGeom>
              <a:avLst/>
              <a:gdLst/>
              <a:ahLst/>
              <a:cxnLst/>
              <a:rect r="r" b="b" t="t" l="l"/>
              <a:pathLst>
                <a:path h="926101" w="3414788">
                  <a:moveTo>
                    <a:pt x="0" y="0"/>
                  </a:moveTo>
                  <a:lnTo>
                    <a:pt x="3414788" y="0"/>
                  </a:lnTo>
                  <a:lnTo>
                    <a:pt x="3414788" y="926101"/>
                  </a:lnTo>
                  <a:lnTo>
                    <a:pt x="0" y="9261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414788" cy="954676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505522" y="3462893"/>
            <a:ext cx="503387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b="true" sz="31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Scalable and structural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10417" y="5481018"/>
            <a:ext cx="7424090" cy="2013435"/>
            <a:chOff x="0" y="0"/>
            <a:chExt cx="3414788" cy="9261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14788" cy="926101"/>
            </a:xfrm>
            <a:custGeom>
              <a:avLst/>
              <a:gdLst/>
              <a:ahLst/>
              <a:cxnLst/>
              <a:rect r="r" b="b" t="t" l="l"/>
              <a:pathLst>
                <a:path h="926101" w="3414788">
                  <a:moveTo>
                    <a:pt x="0" y="0"/>
                  </a:moveTo>
                  <a:lnTo>
                    <a:pt x="3414788" y="0"/>
                  </a:lnTo>
                  <a:lnTo>
                    <a:pt x="3414788" y="926101"/>
                  </a:lnTo>
                  <a:lnTo>
                    <a:pt x="0" y="9261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414788" cy="954676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505522" y="5746373"/>
            <a:ext cx="503387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b="true" sz="31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Restores human dignity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44001" y="4127102"/>
            <a:ext cx="525536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It directly </a:t>
            </a:r>
            <a:r>
              <a:rPr lang="en-US" b="true" sz="18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challenges</a:t>
            </a: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the “</a:t>
            </a:r>
            <a:r>
              <a:rPr lang="en-US" b="true" sz="18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profit over human</a:t>
            </a: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” mindset driving harmful AI substitution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53537" y="6449636"/>
            <a:ext cx="526766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Instead of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changing the technology, </a:t>
            </a:r>
            <a:r>
              <a:rPr lang="en-US" b="true" sz="18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HAI 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shifts the</a:t>
            </a:r>
            <a:r>
              <a:rPr lang="en-US" b="true" sz="18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economic logic 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guiding decisions.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48380" y="4162662"/>
            <a:ext cx="5548163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Once adopted, these metrics </a:t>
            </a:r>
            <a:r>
              <a:rPr lang="en-US" b="true" sz="18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shape future behavior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across teams and decisions, not just one project.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14687" y="6449636"/>
            <a:ext cx="5024713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Shifting these KPIs reorients organizations to </a:t>
            </a:r>
            <a:r>
              <a:rPr lang="en-US" b="true" sz="18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value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b="true" sz="18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human wellbeing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—not just output.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3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004334"/>
            <a:ext cx="13208550" cy="295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5"/>
              </a:lnSpc>
            </a:pPr>
            <a:r>
              <a:rPr lang="en-US" sz="60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If </a:t>
            </a:r>
            <a:r>
              <a:rPr lang="en-US" b="true" sz="6050" spc="30">
                <a:solidFill>
                  <a:srgbClr val="EFEEE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AI </a:t>
            </a:r>
            <a:r>
              <a:rPr lang="en-US" sz="60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is the tide we can’t outrun,</a:t>
            </a:r>
          </a:p>
          <a:p>
            <a:pPr algn="l">
              <a:lnSpc>
                <a:spcPts val="7865"/>
              </a:lnSpc>
            </a:pPr>
            <a:r>
              <a:rPr lang="en-US" sz="60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then </a:t>
            </a:r>
            <a:r>
              <a:rPr lang="en-US" b="true" sz="6050" spc="30">
                <a:solidFill>
                  <a:srgbClr val="EFEEE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human agency </a:t>
            </a:r>
          </a:p>
          <a:p>
            <a:pPr algn="l">
              <a:lnSpc>
                <a:spcPts val="7865"/>
              </a:lnSpc>
            </a:pPr>
            <a:r>
              <a:rPr lang="en-US" sz="6050" spc="30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must be the anchor.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-1875203" y="7130831"/>
            <a:ext cx="22038406" cy="7988922"/>
          </a:xfrm>
          <a:custGeom>
            <a:avLst/>
            <a:gdLst/>
            <a:ahLst/>
            <a:cxnLst/>
            <a:rect r="r" b="b" t="t" l="l"/>
            <a:pathLst>
              <a:path h="7988922" w="22038406">
                <a:moveTo>
                  <a:pt x="22038406" y="0"/>
                </a:moveTo>
                <a:lnTo>
                  <a:pt x="0" y="0"/>
                </a:lnTo>
                <a:lnTo>
                  <a:pt x="0" y="7988923"/>
                </a:lnTo>
                <a:lnTo>
                  <a:pt x="22038406" y="7988923"/>
                </a:lnTo>
                <a:lnTo>
                  <a:pt x="22038406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4224" y="8868382"/>
            <a:ext cx="18536449" cy="6719463"/>
          </a:xfrm>
          <a:custGeom>
            <a:avLst/>
            <a:gdLst/>
            <a:ahLst/>
            <a:cxnLst/>
            <a:rect r="r" b="b" t="t" l="l"/>
            <a:pathLst>
              <a:path h="6719463" w="18536449">
                <a:moveTo>
                  <a:pt x="0" y="0"/>
                </a:moveTo>
                <a:lnTo>
                  <a:pt x="18536448" y="0"/>
                </a:lnTo>
                <a:lnTo>
                  <a:pt x="18536448" y="6719463"/>
                </a:lnTo>
                <a:lnTo>
                  <a:pt x="0" y="6719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9150" y="3693822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519717" y="8470446"/>
            <a:ext cx="2717765" cy="787854"/>
          </a:xfrm>
          <a:custGeom>
            <a:avLst/>
            <a:gdLst/>
            <a:ahLst/>
            <a:cxnLst/>
            <a:rect r="r" b="b" t="t" l="l"/>
            <a:pathLst>
              <a:path h="787854" w="2717765">
                <a:moveTo>
                  <a:pt x="0" y="0"/>
                </a:moveTo>
                <a:lnTo>
                  <a:pt x="2717765" y="0"/>
                </a:lnTo>
                <a:lnTo>
                  <a:pt x="2717765" y="787854"/>
                </a:lnTo>
                <a:lnTo>
                  <a:pt x="0" y="787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1773" r="0" b="-12318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6" y="8393430"/>
            <a:ext cx="7862435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0"/>
              </a:lnSpc>
            </a:pPr>
            <a:r>
              <a:rPr lang="en-US" sz="2300" spc="1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Layo</a:t>
            </a:r>
            <a:r>
              <a:rPr lang="en-US" sz="2300" spc="1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 Kim</a:t>
            </a:r>
          </a:p>
          <a:p>
            <a:pPr algn="just">
              <a:lnSpc>
                <a:spcPts val="3450"/>
              </a:lnSpc>
            </a:pPr>
            <a:r>
              <a:rPr lang="en-US" sz="2300" spc="1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Tim</a:t>
            </a:r>
            <a:r>
              <a:rPr lang="en-US" sz="2300" spc="1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Sheppel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DAG4yRX6rRQ</dc:identifier>
  <dcterms:modified xsi:type="dcterms:W3CDTF">2011-08-01T06:04:30Z</dcterms:modified>
  <cp:revision>1</cp:revision>
  <dc:title>Cream Neutral Minimalist New Business Pitch Deck Presentation</dc:title>
</cp:coreProperties>
</file>